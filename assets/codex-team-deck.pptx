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0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🧭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3317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CF1E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Codex สำหรับทีม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4290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86BBA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จากผู้ใช้ครั้งแรก ถึงหัวหน้าทีมเอเจนต์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434340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1B2822"/>
          </a:solidFill>
          <a:ln w="12700">
            <a:solidFill>
              <a:srgbClr val="F0AC4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43434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AC4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มือใหม่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331720" y="43434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9A8F"/>
                </a:solidFill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468880" y="434340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1B2822"/>
          </a:solidFill>
          <a:ln w="12700">
            <a:solidFill>
              <a:srgbClr val="86BBA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468880" y="43434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6BBA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ระดับกลาง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251960" y="434340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9A8F"/>
                </a:solidFill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389120" y="4343400"/>
            <a:ext cx="1737360" cy="457200"/>
          </a:xfrm>
          <a:prstGeom prst="roundRect">
            <a:avLst>
              <a:gd name="adj" fmla="val 50000"/>
            </a:avLst>
          </a:prstGeom>
          <a:solidFill>
            <a:srgbClr val="1B2822"/>
          </a:solidFill>
          <a:ln w="12700">
            <a:solidFill>
              <a:srgbClr val="C97F1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389120" y="43434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C97F1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มืออาชีพ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62179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A8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อ้างอิงจากคู่มือสาธารณะ · อัปเดตกันยายน 2026 · ไม่ใช่เอกสารทางการของ OpenAI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7F1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วันนี้เราจะคุยกัน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13232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 ระดับของการใช้ Codex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868680" cy="105156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C97F1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20240"/>
            <a:ext cx="868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7F1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19659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มือใหม่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2423160"/>
            <a:ext cx="9418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85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ติดตั้ง ใช้งานครั้งแรก รู้ว่าทำอะไรได้บ้าง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3337560"/>
            <a:ext cx="868680" cy="105156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2F554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3337560"/>
            <a:ext cx="868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F554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691640" y="33832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ระดับกลาง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1691640" y="3840480"/>
            <a:ext cx="9418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85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ตั้งค่าให้ Codex "จำ" งานข้ามเซสชันได้ (MEMORY.md, SKILL.md, harness)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4754880"/>
            <a:ext cx="868680" cy="105156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 w="19050">
            <a:solidFill>
              <a:srgbClr val="1E2E2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4754880"/>
            <a:ext cx="868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03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1691640" y="48006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มืออาชีพ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1691640" y="5257800"/>
            <a:ext cx="9418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85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ใช้ Codex เป็นทีมเอเจนต์ — คุณเป็นหัวหน้าทีม ไม่ใช่คนลงมือทำเอง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A8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14255" y="384048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EFDCB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814255" y="38404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7F1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มือใหม่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7F1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ก่อนเริ่ม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Codex คืออะไร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55685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Codex คือผู้ช่วย AI ของ OpenAI ที่ </a:t>
            </a:r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ลงมือทำงานให้จริง</a:t>
            </a:r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55685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 — ไม่ใช่แค่ตอบคำถาม จัดไฟล์ เขียนสูตร Excel สร้างเว็บเพจ อ่านสรุปเอกสาร ได้ทั้งหมด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3246120"/>
            <a:ext cx="1088136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EC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3429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554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อยู่ในแอป ChatGPT บนคอมพิวเตอร์แล้ว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840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85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ตั้งแต่กลางปี 2026 ไม่ต้องติดตั้งแยกเป็นอีกแอป — มีแอป ChatGPT ก็ใช้ Codex ได้เลย (เมนู Work / Codex)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846320"/>
            <a:ext cx="10881360" cy="868680"/>
          </a:xfrm>
          <a:prstGeom prst="roundRect">
            <a:avLst>
              <a:gd name="adj" fmla="val 12632"/>
            </a:avLst>
          </a:prstGeom>
          <a:solidFill>
            <a:srgbClr val="EFDCB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14400" y="4846320"/>
            <a:ext cx="10058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F554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คู่มือนี้พูดถึงเวอร์ชัน desktop เท่านั้น ไม่ใช่ Codex CLI (บรรทัดคำสั่งสำหรับโปรแกรมเมอร์)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A8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14255" y="384048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EFDCB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814255" y="38404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7F1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มือใหม่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7F1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ทำไมต้อง Codex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Chat ธรรมดา vs Codex / Work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507492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9DEC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14884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9A8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CHAT ธรรมดา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974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9A8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–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143000" y="269748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85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ได้: คำตอบเป็นข้อความ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42900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9A8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–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342900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85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แตะไฟล์ในเครื่อง: ไม่ได้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16052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9A8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–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143000" y="416052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85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ขั้นตอนสุดท้าย: คุณทำเอง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89204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9A8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–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143000" y="489204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85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เหมาะกับ: ถามข้อมูล ระดมไอเดีย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989320" y="1920240"/>
            <a:ext cx="5074920" cy="4206240"/>
          </a:xfrm>
          <a:prstGeom prst="roundRect">
            <a:avLst>
              <a:gd name="adj" fmla="val 2609"/>
            </a:avLst>
          </a:prstGeom>
          <a:solidFill>
            <a:srgbClr val="14201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263640" y="214884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AC4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CODEX / WORK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269748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6BBA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0" y="269748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F1E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ได้: งานที่ทำเสร็จแล้วจริงๆ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342900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6BBA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583680" y="342900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F1E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แตะไฟล์ในเครื่อง: ได้ — เปิด แก้ไข สร้างไฟล์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263640" y="416052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6BBA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0" y="416052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F1E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ขั้นตอนสุดท้าย: Codex ทำให้ คุณกด Approve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263640" y="489204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6BBA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583680" y="4892040"/>
            <a:ext cx="4206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CF1E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เหมาะกับ: จัดไฟล์ Excel เว็บ เอกสารจริง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6263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85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จุดต่าง: แชทจบที่ "คำตอบ" — Codex จบที่ "งานเสร็จจริง"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A8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14255" y="384048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EFDCB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814255" y="38404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7F1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มือใหม่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7F1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เริ่มใช้งาน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 ขั้นตอน: ติดตั้ง → สั่งงานแรก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87452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9DEC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10312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EFDCB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7F1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417320" y="21031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ดาวน์โหลด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78892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5685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chatgpt.com/download เลือก OS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97680" y="187452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9DEC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26280" y="210312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EFDCB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2628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7F1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166360" y="21031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ติดตั้ง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4526280" y="278892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5685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เปิดไฟล์ ทำตามขั้นตอนปกติ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046720" y="187452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9DEC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75320" y="210312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EFDCB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275320" y="21031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7F1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915400" y="210312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เข้าสู่ระบบ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8275320" y="278892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5685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ใช้บัญชี ChatGPT (ฟรีก็เริ่มได้)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4023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9DEC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7240" y="425196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EFDCB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77240" y="4251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7F1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417320" y="42519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หาโหมด Codex</a:t>
            </a:r>
            <a:endParaRPr lang="en-US" sz="145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493776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5685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สลับจาก Chat ไป Work/Codex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297680" y="4023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9DEC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26280" y="425196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EFDCBB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26280" y="4251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7F1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5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5166360" y="42519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เริ่มงานแรก</a:t>
            </a:r>
            <a:endParaRPr lang="en-US" sz="1450" dirty="0"/>
          </a:p>
        </p:txBody>
      </p:sp>
      <p:sp>
        <p:nvSpPr>
          <p:cNvPr id="30" name="Text 28"/>
          <p:cNvSpPr txBox="1"/>
          <p:nvPr/>
        </p:nvSpPr>
        <p:spPr>
          <a:xfrm>
            <a:off x="4526280" y="493776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5685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เปิดโฟลเดอร์ พิมพ์สั่งงานธรรมดา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0" y="402336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9DEC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275320" y="4251960"/>
            <a:ext cx="502920" cy="502920"/>
          </a:xfrm>
          <a:prstGeom prst="roundRect">
            <a:avLst>
              <a:gd name="adj" fmla="val 18182"/>
            </a:avLst>
          </a:prstGeom>
          <a:solidFill>
            <a:srgbClr val="EFDCBB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275320" y="42519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7F1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8915400" y="425196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ตรวจก่อนอนุมัติ</a:t>
            </a:r>
            <a:endParaRPr lang="en-US" sz="1450" dirty="0"/>
          </a:p>
        </p:txBody>
      </p:sp>
      <p:sp>
        <p:nvSpPr>
          <p:cNvPr id="35" name="Text 33"/>
          <p:cNvSpPr txBox="1"/>
          <p:nvPr/>
        </p:nvSpPr>
        <p:spPr>
          <a:xfrm>
            <a:off x="8275320" y="4937760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5685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อ่านสิ่งที่จะทำ แล้วค่อยกด Approve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A8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14255" y="384048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EFDCB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814255" y="38404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7F1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มือใหม่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7F1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ใช้ทำอะไรได้บ้าง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6 หมวดที่ใช้บ่อยที่สุด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9DECB"/>
            </a:solidFill>
            <a:prstDash val="solid"/>
          </a:ln>
          <a:effectLst>
            <a:outerShdw sx="100000" sy="100000" kx="0" ky="0" algn="bl" rotWithShape="0" blurRad="76200" dist="25400" dir="5400000">
              <a:srgbClr val="1E2E28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49808" y="199339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📁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395728"/>
            <a:ext cx="3118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จัดการไฟล์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816352"/>
            <a:ext cx="311810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5685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จัดรูป เปลี่ยนชื่อไฟล์เป็นชุด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7680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9DECB"/>
            </a:solidFill>
            <a:prstDash val="solid"/>
          </a:ln>
          <a:effectLst>
            <a:outerShdw sx="100000" sy="100000" kx="0" ky="0" algn="bl" rotWithShape="0" blurRad="76200" dist="25400" dir="5400000">
              <a:srgbClr val="1E2E28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498848" y="199339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📄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498848" y="2395728"/>
            <a:ext cx="3118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เอกสาร &amp; สรุป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498848" y="2816352"/>
            <a:ext cx="311810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5685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อ่าน PDF สรุปเป็นข้อๆ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46720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9DECB"/>
            </a:solidFill>
            <a:prstDash val="solid"/>
          </a:ln>
          <a:effectLst>
            <a:outerShdw sx="100000" sy="100000" kx="0" ky="0" algn="bl" rotWithShape="0" blurRad="76200" dist="25400" dir="5400000">
              <a:srgbClr val="1E2E28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247888" y="199339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📊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8247888" y="2395728"/>
            <a:ext cx="3118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สเปรดชีต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8247888" y="2816352"/>
            <a:ext cx="311810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5685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เขียนสูตร Excel ลบแถวซ้ำ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97764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9DECB"/>
            </a:solidFill>
            <a:prstDash val="solid"/>
          </a:ln>
          <a:effectLst>
            <a:outerShdw sx="100000" sy="100000" kx="0" ky="0" algn="bl" rotWithShape="0" blurRad="76200" dist="25400" dir="5400000">
              <a:srgbClr val="1E2E28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49808" y="414223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🌐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749808" y="4544568"/>
            <a:ext cx="3118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เว็บ &amp; นำเสนอ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749808" y="4965192"/>
            <a:ext cx="311810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5685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สร้างหน้าเว็บ ทำสไลด์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297680" y="397764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9DECB"/>
            </a:solidFill>
            <a:prstDash val="solid"/>
          </a:ln>
          <a:effectLst>
            <a:outerShdw sx="100000" sy="100000" kx="0" ky="0" algn="bl" rotWithShape="0" blurRad="76200" dist="25400" dir="5400000">
              <a:srgbClr val="1E2E28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498848" y="414223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🔍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4498848" y="4544568"/>
            <a:ext cx="3118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ค้นคว้า &amp; เทียบ</a:t>
            </a:r>
            <a:endParaRPr lang="en-US" sz="1450" dirty="0"/>
          </a:p>
        </p:txBody>
      </p:sp>
      <p:sp>
        <p:nvSpPr>
          <p:cNvPr id="25" name="Text 23"/>
          <p:cNvSpPr txBox="1"/>
          <p:nvPr/>
        </p:nvSpPr>
        <p:spPr>
          <a:xfrm>
            <a:off x="4498848" y="4965192"/>
            <a:ext cx="311810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5685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เทียบราคา หาข้อมูลออนไลน์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046720" y="397764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9DECB"/>
            </a:solidFill>
            <a:prstDash val="solid"/>
          </a:ln>
          <a:effectLst>
            <a:outerShdw sx="100000" sy="100000" kx="0" ky="0" algn="bl" rotWithShape="0" blurRad="76200" dist="25400" dir="5400000">
              <a:srgbClr val="1E2E28">
                <a:alpha val="12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247888" y="414223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🔁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8247888" y="4544568"/>
            <a:ext cx="3118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งานซ้ำๆ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8247888" y="4965192"/>
            <a:ext cx="311810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5685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แปลงไฟล์ทีละหลายอัน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A8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14255" y="384048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EFDCB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814255" y="38404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7F1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มือใหม่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7F1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ใช้ได้กว้างกว่าที่คิด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ไม่ใช่แค่งานสายเทค — งานเอกสารก็ใช้ได้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874520"/>
            <a:ext cx="2560320" cy="40233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9DECB"/>
            </a:solidFill>
            <a:prstDash val="solid"/>
          </a:ln>
          <a:effectLst>
            <a:outerShdw sx="100000" sy="100000" kx="0" ky="0" algn="bl" rotWithShape="0" blurRad="76200" dist="25400" dir="5400000">
              <a:srgbClr val="1E2E28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49808" y="203911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📋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44144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ร่าง TOR ประกวดราคา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862072"/>
            <a:ext cx="2157984" cy="2871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5685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ป้อนไฟล์ TOR เก่า ให้ร่างขอบเขตงาน คุณสมบัติผู้เสนอราคา และเกณฑ์ให้คะแนนของงานใหม่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19272" y="1874520"/>
            <a:ext cx="2560320" cy="40233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9DECB"/>
            </a:solidFill>
            <a:prstDash val="solid"/>
          </a:ln>
          <a:effectLst>
            <a:outerShdw sx="100000" sy="100000" kx="0" ky="0" algn="bl" rotWithShape="0" blurRad="76200" dist="25400" dir="5400000">
              <a:srgbClr val="1E2E28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520440" y="203911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🧾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3520440" y="244144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สร้าง BOM อัตโนมัติ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3520440" y="2862072"/>
            <a:ext cx="2157984" cy="2871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5685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รวมใบเสนอราคา/ใบสั่งซื้อจากหลายไฟล์ Excel หรือ PDF เป็นตาราง BOM เดียว พร้อมราคารวม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89904" y="1874520"/>
            <a:ext cx="2560320" cy="40233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9DECB"/>
            </a:solidFill>
            <a:prstDash val="solid"/>
          </a:ln>
          <a:effectLst>
            <a:outerShdw sx="100000" sy="100000" kx="0" ky="0" algn="bl" rotWithShape="0" blurRad="76200" dist="25400" dir="5400000">
              <a:srgbClr val="1E2E28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6291072" y="203911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📊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6291072" y="244144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สรุปกระแสเงินสด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6291072" y="2862072"/>
            <a:ext cx="2157984" cy="2871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5685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อ่าน PDF สเตทเมนต์ธนาคารหรืองบดุลหลายเดือน สรุปเป็นตาราง Excel ให้ดูง่าย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860536" y="1874520"/>
            <a:ext cx="2560320" cy="40233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9DECB"/>
            </a:solidFill>
            <a:prstDash val="solid"/>
          </a:ln>
          <a:effectLst>
            <a:outerShdw sx="100000" sy="100000" kx="0" ky="0" algn="bl" rotWithShape="0" blurRad="76200" dist="25400" dir="5400000">
              <a:srgbClr val="1E2E28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9061704" y="203911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🧾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9061704" y="2441448"/>
            <a:ext cx="21579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เทียบใบเสนอราคาประมูล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9061704" y="2862072"/>
            <a:ext cx="2157984" cy="2871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5685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อ่านใบเสนอราคาของผู้เสนอราคาแต่ละราย เรียงเทียบกันในตารางเดียว พร้อมชี้จุดที่ไม่ตรงกัน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A8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14255" y="384048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EFDCB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814255" y="38404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7F1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มือใหม่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7F1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งบประมาณ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แพ็กเกจไหนใช้ได้บ้าง</a:t>
            </a:r>
            <a:endParaRPr lang="en-US" sz="3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0881360" cy="2926080"/>
        </p:xfrm>
        <a:graphic>
          <a:graphicData uri="http://schemas.openxmlformats.org/drawingml/2006/table">
            <a:tbl>
              <a:tblPr/>
              <a:tblGrid>
                <a:gridCol w="2743200"/>
                <a:gridCol w="3200400"/>
                <a:gridCol w="493776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8A9A8F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แพ็กเกจ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8A9A8F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ราคา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E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8A9A8F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ใช้งานได้ประมาณ</a:t>
                      </a:r>
                      <a:endParaRPr lang="en-US" sz="13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E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E2E28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Free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55685D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ฟรี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55685D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ลองใช้งาน มีจำกัดต่อวัน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E2E28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Plus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55685D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~$20/เดือน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55685D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ใช้ทุกวันแบบสม่ำเสมอ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E2E28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Pro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55685D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~$100–200/เดือน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55685D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ใช้งานหนัก ต่อเนื่องทั้งวัน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E2E28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Business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55685D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~$25/คน/เดือน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55685D"/>
                          </a:solidFill>
                          <a:latin typeface="Leelawadee UI" pitchFamily="34" charset="0"/>
                          <a:ea typeface="Leelawadee UI" pitchFamily="34" charset="-122"/>
                          <a:cs typeface="Leelawadee UI" pitchFamily="34" charset="-120"/>
                        </a:rPr>
                        <a:t>ทีมหรือบริษัท</a:t>
                      </a:r>
                      <a:endParaRPr lang="en-US" sz="1400" dirty="0">
                        <a:latin typeface="Leelawadee UI" charset="0"/>
                        <a:ea typeface="Leelawadee UI" charset="0"/>
                        <a:cs typeface="Leelawadee U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EC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548640" y="51663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A8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Codex ใช้ได้กับทุกแพ็กเกจ รวมถึงแบบฟรี · ตัวเลขเป็นค่าประมาณ ก.ย. 2026 เช็กจริงที่ chatgpt.com/codex/pricing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A8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14255" y="384048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EFDCB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814255" y="38404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7F1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มือใหม่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C97F1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ก่อนปล่อยมือ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ข้อควรระวัง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10881360" cy="4023360"/>
          </a:xfrm>
          <a:prstGeom prst="roundRect">
            <a:avLst>
              <a:gd name="adj" fmla="val 3182"/>
            </a:avLst>
          </a:prstGeom>
          <a:solidFill>
            <a:srgbClr val="EFDCBB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2331720"/>
            <a:ext cx="365760" cy="365760"/>
          </a:xfrm>
          <a:prstGeom prst="ellipse">
            <a:avLst/>
          </a:prstGeom>
          <a:solidFill>
            <a:srgbClr val="C97F1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23317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!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463040" y="228600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อ่านสิ่งที่ Codex กำลังจะทำก่อนกด Approve ทุกครั้ง — เหมือนตรวจงานพนักงานใหม่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914400" y="3566160"/>
            <a:ext cx="365760" cy="365760"/>
          </a:xfrm>
          <a:prstGeom prst="ellipse">
            <a:avLst/>
          </a:prstGeom>
          <a:solidFill>
            <a:srgbClr val="C97F1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14400" y="3566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!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352044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งานสำคัญ สำรองไฟล์ไว้ก่อน เผื่อผลลัพธ์ไม่ตรงใจ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914400" y="4800600"/>
            <a:ext cx="365760" cy="365760"/>
          </a:xfrm>
          <a:prstGeom prst="ellipse">
            <a:avLst/>
          </a:prstGeom>
          <a:solidFill>
            <a:srgbClr val="C97F1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!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475488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อย่าให้เข้าถึงบัญชี/ข้อมูลอ่อนไหว (รหัสผ่าน บัญชีธนาคาร) โดยไม่เข้าใจว่ามันจะทำอะไร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A8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0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920240" cy="411480"/>
          </a:xfrm>
          <a:prstGeom prst="roundRect">
            <a:avLst>
              <a:gd name="adj" fmla="val 48889"/>
            </a:avLst>
          </a:prstGeom>
          <a:solidFill>
            <a:srgbClr val="C97F1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5720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4201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ใหม่ล่าสุด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CF1E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GPT-6 Astra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860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6BBA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โมเดลใหม่ที่ทำให้ Codex ฉลาดขึ้น (ปล่อย 3 ก.ย. 2026)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1089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AC4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→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310896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CF1E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วางแผนงานซับซ้อนได้ดีขึ้น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7947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AC4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79476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CF1E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คุมคอมพิวเตอร์ได้แม่นขึ้น (computer use)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4805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0AC4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448056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CF1E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จำ context ยาวๆ ข้ามหลายเซสชันได้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5349240"/>
            <a:ext cx="10881360" cy="914400"/>
          </a:xfrm>
          <a:prstGeom prst="roundRect">
            <a:avLst>
              <a:gd name="adj" fmla="val 12000"/>
            </a:avLst>
          </a:prstGeom>
          <a:solidFill>
            <a:srgbClr val="1B2822"/>
          </a:solidFill>
          <a:ln w="12700">
            <a:solidFill>
              <a:srgbClr val="2F554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5349240"/>
            <a:ext cx="10149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86BBA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ทยอยเปิดให้ Pro/Business/Enterprise ก่อน · ไม่ต้องติดตั้งอะไรเพิ่ม แค่อัปเดตแอป · ข้อมูลใหม่มาก อาจเปลี่ยนเร็ว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A8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14255" y="384048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D7E6D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814255" y="38404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554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ระดับกลาง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554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ก่อนไปต่อ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ข้อดี-ข้อเสีย ของการใช้จริงจัง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920240"/>
            <a:ext cx="507492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5240">
            <a:solidFill>
              <a:srgbClr val="2F554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14884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F554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ข้อดี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697480"/>
            <a:ext cx="320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554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+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2697480"/>
            <a:ext cx="4160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5685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เร็วกว่าทำเอง โดยเฉพาะงานซ้ำ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3657600"/>
            <a:ext cx="320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554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+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3657600"/>
            <a:ext cx="4160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5685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มอบหมายแล้วไปทำอย่างอื่นได้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4617720"/>
            <a:ext cx="320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F554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+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4617720"/>
            <a:ext cx="4160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5685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ตั้ง MEMORY.md ดี คุณภาพงานสม่ำเสมอขึ้นตามเวลา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989320" y="1920240"/>
            <a:ext cx="507492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5240">
            <a:solidFill>
              <a:srgbClr val="C97F1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63640" y="214884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7F1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ข้อควรระวัง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263640" y="2697480"/>
            <a:ext cx="320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F1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–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629400" y="2697480"/>
            <a:ext cx="4160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5685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ยังพลาดได้ (hallucinate) — ต้องมีคนตรวจทานเสมอ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6263640" y="3657600"/>
            <a:ext cx="320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F1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–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6629400" y="3657600"/>
            <a:ext cx="4160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5685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สั่งงานคลุมเครือ = ได้ผลลัพธ์คลุมเครือ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4617720"/>
            <a:ext cx="320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F1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–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629400" y="4617720"/>
            <a:ext cx="4160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55685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ให้สิทธิ์เข้าถึงเกินจำเป็น = เสี่ยงด้านความปลอดภัย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A8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14255" y="384048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D7E6D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814255" y="38404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554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ระดับกลาง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F554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ให้ Codex จำงานได้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 แนวคิด: Memory · Skill · Harness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087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A8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หมายเหตุ: ไม่ใช่ปุ่มในแอป Codex — เป็นวิธีทำงานที่ตั้งเอง ใช้ได้กับ AI agent ตัวไหนก็ได้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057400"/>
            <a:ext cx="3520440" cy="29260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9DECB"/>
            </a:solidFill>
            <a:prstDash val="solid"/>
          </a:ln>
          <a:effectLst>
            <a:outerShdw sx="100000" sy="100000" kx="0" ky="0" algn="bl" rotWithShape="0" blurRad="76200" dist="25400" dir="5400000">
              <a:srgbClr val="1E2E28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49808" y="222199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📝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624328"/>
            <a:ext cx="3118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MEMORY.md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3044952"/>
            <a:ext cx="3118104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5685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ไฟล์ความจำ ให้ Codex อ่านก่อนเริ่มงาน + จดสิ่งที่ตัดสินใจไว้ท้ายไฟล์เมื่อทำเสร็จ — เซสชันหน้าไม่ต้องอธิบายซ้ำ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97680" y="2057400"/>
            <a:ext cx="3520440" cy="29260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9DECB"/>
            </a:solidFill>
            <a:prstDash val="solid"/>
          </a:ln>
          <a:effectLst>
            <a:outerShdw sx="100000" sy="100000" kx="0" ky="0" algn="bl" rotWithShape="0" blurRad="76200" dist="25400" dir="5400000">
              <a:srgbClr val="1E2E28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498848" y="222199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📋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4498848" y="2624328"/>
            <a:ext cx="3118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SKILL.md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498848" y="3044952"/>
            <a:ext cx="3118104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5685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งานที่ทำซ้ำบ่อย เขียนเป็นไฟล์ขั้นตอนแยกไว้ต่างหาก — เหมือน SOP ให้พนักงานใหม่ แทนสอนปากเปล่าทุกครั้ง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046720" y="2057400"/>
            <a:ext cx="3520440" cy="29260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D9DECB"/>
            </a:solidFill>
            <a:prstDash val="solid"/>
          </a:ln>
          <a:effectLst>
            <a:outerShdw sx="100000" sy="100000" kx="0" ky="0" algn="bl" rotWithShape="0" blurRad="76200" dist="25400" dir="5400000">
              <a:srgbClr val="1E2E28">
                <a:alpha val="12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247888" y="222199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🧩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8247888" y="2624328"/>
            <a:ext cx="3118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Harness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247888" y="3044952"/>
            <a:ext cx="3118104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5685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แอปที่ห่อโมเดล AI แล้วให้เครื่องมือมัน (แตะไฟล์ ท่องเว็บ) — Chat เปล่าไม่มี harness, Codex/Work มี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A8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14255" y="384048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420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814255" y="38404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0AC4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มืออาชีพ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ใช้ Codex เป็นทีม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4 แนวคิด: จากผู้ช่วยเดี่ยว สู่หัวหน้าทีม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48640" y="1874520"/>
            <a:ext cx="525780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9DECB"/>
            </a:solidFill>
            <a:prstDash val="solid"/>
          </a:ln>
          <a:effectLst>
            <a:outerShdw sx="100000" sy="100000" kx="0" ky="0" algn="bl" rotWithShape="0" blurRad="76200" dist="25400" dir="5400000">
              <a:srgbClr val="1E2E28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49808" y="203911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👥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441448"/>
            <a:ext cx="4855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แบ่งบทบาทเฉพาะทาง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862072"/>
            <a:ext cx="485546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5685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แยกเป็น "ตัวค้นข้อมูล" "ตัวเขียนร่าง" "ตัวตรวจทาน" — คุณมอบงานและอนุมัติ ไม่ใช่ลงมือทำเอง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72200" y="1874520"/>
            <a:ext cx="525780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9DECB"/>
            </a:solidFill>
            <a:prstDash val="solid"/>
          </a:ln>
          <a:effectLst>
            <a:outerShdw sx="100000" sy="100000" kx="0" ky="0" algn="bl" rotWithShape="0" blurRad="76200" dist="25400" dir="5400000">
              <a:srgbClr val="1E2E28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373368" y="203911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🔗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6373368" y="2441448"/>
            <a:ext cx="4855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ต่อกันเป็นสายงาน (pipeline)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6373368" y="2862072"/>
            <a:ext cx="485546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5685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ผลลัพธ์ตัวหนึ่งส่งต่อเป็นข้อมูลตั้งต้นให้อีกตัว ทุกจุดต่อคือที่ที่คุณเข้าไปตรวจได้ก่อนส่งต่อ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4023360"/>
            <a:ext cx="525780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9DECB"/>
            </a:solidFill>
            <a:prstDash val="solid"/>
          </a:ln>
          <a:effectLst>
            <a:outerShdw sx="100000" sy="100000" kx="0" ky="0" algn="bl" rotWithShape="0" blurRad="76200" dist="25400" dir="5400000">
              <a:srgbClr val="1E2E28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49808" y="418795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🔄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4590288"/>
            <a:ext cx="4855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ปล่อยลองซ้ำได้ แต่ต้องมีเพดาน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49808" y="5010912"/>
            <a:ext cx="485546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5685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ให้แก้งานซ้ำเองได้ แต่จำกัดจำนวนรอบเสมอ — ห้ามปล่อยเป็นลูปไม่มีที่สิ้นสุด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72200" y="4023360"/>
            <a:ext cx="525780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9DECB"/>
            </a:solidFill>
            <a:prstDash val="solid"/>
          </a:ln>
          <a:effectLst>
            <a:outerShdw sx="100000" sy="100000" kx="0" ky="0" algn="bl" rotWithShape="0" blurRad="76200" dist="25400" dir="5400000">
              <a:srgbClr val="1E2E28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373368" y="418795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📌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6373368" y="4590288"/>
            <a:ext cx="48554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จบเซสชันด้วยการสรุป (wrap)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6373368" y="5010912"/>
            <a:ext cx="485546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5685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ก่อนปิดงาน สรุปว่าเปลี่ยนอะไร เหลืออะไรค้าง แล้วบันทึกลง MEMORY.md ทุกครั้ง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A8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0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14255" y="384048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C97F1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814255" y="38404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4201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มืออาชีพ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AC4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เริ่มต้นจากตรงนี้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CF1E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เริ่มจากไฟล์ 4 อันนี้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201168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C97F1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01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9659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F1E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ไฟล์กติกาโปรเจกต์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206240" y="196596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6BBA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บริบท/กติกาที่ต้องรู้ก่อนเริ่มงานทุกครั้ง (เหมือน CLAUDE.md / AGENTS.md)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306324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C97F1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063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01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301752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F1E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MEMORY.md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206240" y="301752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6BBA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บันทึกความจำ อัปเดตทุกจบเซสชัน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1148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C97F1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4864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01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40690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F1E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ไฟล์ SKILL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206240" y="406908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6BBA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ขั้นตอนสำหรับงานที่ทำซ้ำ อย่างละไฟล์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48640" y="516636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C97F1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5166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01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512064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CF1E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PLAN.md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4206240" y="5120640"/>
            <a:ext cx="7132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6BBA6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ล็อกขอบเขตงานก่อนปล่อยให้ agent ลงมือทำงานใหญ่/เสี่ยง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A8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14255" y="384048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420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814255" y="38404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0AC4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มืออาชีพ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ไม่ใช่แค่ทฤษฎี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ตัวอย่างจริงจากระบบของเรา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9DECB"/>
            </a:solidFill>
            <a:prstDash val="solid"/>
          </a:ln>
          <a:effectLst>
            <a:outerShdw sx="100000" sy="100000" kx="0" ky="0" algn="bl" rotWithShape="0" blurRad="76200" dist="25400" dir="5400000">
              <a:srgbClr val="1E2E28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49808" y="199339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🏛️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395728"/>
            <a:ext cx="3118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สถาปัตยกรรม 4 ชั้น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2816352"/>
            <a:ext cx="311810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5685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กติกากลาง → จัดสรรงาน → เครื่องมือหลัก 24 ชม. → โปรเจกต์เฉพาะทาง แต่ละอันมีไฟล์ชุดเดียวกันเสมอ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7680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9DECB"/>
            </a:solidFill>
            <a:prstDash val="solid"/>
          </a:ln>
          <a:effectLst>
            <a:outerShdw sx="100000" sy="100000" kx="0" ky="0" algn="bl" rotWithShape="0" blurRad="76200" dist="25400" dir="5400000">
              <a:srgbClr val="1E2E28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498848" y="199339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📚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4498848" y="2395728"/>
            <a:ext cx="3118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คลังทักษะเป็นร้อยไฟล์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498848" y="2816352"/>
            <a:ext cx="311810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5685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เจอปัญหาซ้ำ เขียนไฟล์บันทึกแยกไว้ — ครั้งหน้าเจอทางแก้ทันที ไม่เริ่มนับหนึ่งใหม่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046720" y="18288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9DECB"/>
            </a:solidFill>
            <a:prstDash val="solid"/>
          </a:ln>
          <a:effectLst>
            <a:outerShdw sx="100000" sy="100000" kx="0" ky="0" algn="bl" rotWithShape="0" blurRad="76200" dist="25400" dir="5400000">
              <a:srgbClr val="1E2E28">
                <a:alpha val="12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247888" y="199339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🔁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8247888" y="2395728"/>
            <a:ext cx="3118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พิธีกรรมจบเซสชัน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8247888" y="2816352"/>
            <a:ext cx="311810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5685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บันทึก: ทำอะไรไป / เวิร์กแค่ไหน / ครั้งหน้าควรปรับอะไร — ระบบฉลาดขึ้นทีละนิด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48640" y="397764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9DECB"/>
            </a:solidFill>
            <a:prstDash val="solid"/>
          </a:ln>
          <a:effectLst>
            <a:outerShdw sx="100000" sy="100000" kx="0" ky="0" algn="bl" rotWithShape="0" blurRad="76200" dist="25400" dir="5400000">
              <a:srgbClr val="1E2E28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749808" y="414223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🚨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749808" y="4544568"/>
            <a:ext cx="3118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ด่านตรวจก่อนงานเสี่ยง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749808" y="4965192"/>
            <a:ext cx="311810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5685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งานที่ย้อนกลับยาก ต้องมี AI ตัวที่สองตรวจอิสระ + คนอนุมัติชัดเจนก่อนเสมอ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4297680" y="397764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9DECB"/>
            </a:solidFill>
            <a:prstDash val="solid"/>
          </a:ln>
          <a:effectLst>
            <a:outerShdw sx="100000" sy="100000" kx="0" ky="0" algn="bl" rotWithShape="0" blurRad="76200" dist="25400" dir="5400000">
              <a:srgbClr val="1E2E28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498848" y="414223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🎯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4498848" y="4544568"/>
            <a:ext cx="3118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เลือกโมเดลตามความเสี่ยง</a:t>
            </a:r>
            <a:endParaRPr lang="en-US" sz="1450" dirty="0"/>
          </a:p>
        </p:txBody>
      </p:sp>
      <p:sp>
        <p:nvSpPr>
          <p:cNvPr id="25" name="Text 23"/>
          <p:cNvSpPr txBox="1"/>
          <p:nvPr/>
        </p:nvSpPr>
        <p:spPr>
          <a:xfrm>
            <a:off x="4498848" y="4965192"/>
            <a:ext cx="311810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5685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งานจิ๊บจ๊อยใช้โมเดลถูก งานเสี่ยงสูง (การเงิน ความปลอดภัย) ใช้โมเดลแม่นที่สุด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046720" y="397764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EFDCBB"/>
          </a:solidFill>
          <a:ln w="12700">
            <a:solidFill>
              <a:srgbClr val="C97F1E"/>
            </a:solidFill>
            <a:prstDash val="solid"/>
          </a:ln>
          <a:effectLst>
            <a:outerShdw sx="100000" sy="100000" kx="0" ky="0" algn="bl" rotWithShape="0" blurRad="76200" dist="25400" dir="5400000">
              <a:srgbClr val="1E2E28">
                <a:alpha val="12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8247888" y="414223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🚀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8247888" y="4544568"/>
            <a:ext cx="3118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ลองกับงานทีมคุณ</a:t>
            </a:r>
            <a:endParaRPr lang="en-US" sz="1450" dirty="0"/>
          </a:p>
        </p:txBody>
      </p:sp>
      <p:sp>
        <p:nvSpPr>
          <p:cNvPr id="29" name="Text 27"/>
          <p:cNvSpPr txBox="1"/>
          <p:nvPr/>
        </p:nvSpPr>
        <p:spPr>
          <a:xfrm>
            <a:off x="8247888" y="4965192"/>
            <a:ext cx="311810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5685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เริ่มจากปัญหาที่ทำซ้ำบ่อยที่สุดในทีมก่อน 1 อย่าง แล้วค่อยขยาย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A8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14255" y="384048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4201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9814255" y="38404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0AC4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มืออาชีพ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8404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ไม่ใช่ทฤษฎีลอยๆ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13232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ทำไมต้องมีไฟล์จดความจำ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81328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5685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คู่มือ+วิดีโอชุดนี้เอง สร้างด้วย </a:t>
            </a:r>
            <a:pPr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2F554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Claude Code</a:t>
            </a:r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5685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 (เอเจนต์แบบเดียวกับ Codex คนละเจ้า) ระหว่างทางเจอบั๊กจริง 2 ตัว — เอามาเล่าตรงๆ เพราะอธิบายชัดว่าทำไมไฟล์พวกนี้ถึงสำคัญ: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331720"/>
            <a:ext cx="10881360" cy="1417320"/>
          </a:xfrm>
          <a:prstGeom prst="roundRect">
            <a:avLst>
              <a:gd name="adj" fmla="val 7742"/>
            </a:avLst>
          </a:prstGeom>
          <a:solidFill>
            <a:srgbClr val="EFDCB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7240" y="2487168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7F1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!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43000" y="2487168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ปุ่มสลับภาษา: เผลอเพิ่ม CSS selector ที่เจาะจงกว่า ไปทับกฎซ่อนภาษาแบบเงียบๆ — ไทย/อังกฤษโชว์พร้อมกันทั้งคู่ ไม่มี error ให้เห็น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145536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7F1E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!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3145536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วิดีโอ 9 ฉากคู่ขนาน: ตั้งชื่อ id/class ขึ้นต้นด้วยตัวเลข (เช่น "01-hook") ซึ่งผิดกฎ CSS — 4 ใน 9 ฉากพังตั้งแต่รอบแรก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9319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554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แก้ครั้งเดียว เขียนกฎไว้ในไฟล์ — ครั้งต่อไปไม่ต้องดีบั๊กซ้ำ หลักการเดียวกัน ใช้ได้ 4 แบบไฟล์: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38912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554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43891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MEMORY.md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3611880" y="438912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85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จดสิ่งที่เพิ่งเรียนรู้ไว้เรื่อยๆ — อ่านทวนตอนเริ่มงานรอบถัดไป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84632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554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48463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GOTCHAS.md / SKILL.md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3611880" y="484632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85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จดวิธีแก้ปัญหาเฉพาะเรื่องไว้ครั้งเดียว ใช้ซ้ำได้ตลอด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30352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554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53035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CLAUDE.md / AGENTS.md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3611880" y="530352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85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กติกากลาง ทุก session อ่านก่อนเริ่มงานเสมอ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760720"/>
            <a:ext cx="320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F554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✓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914400" y="576072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E2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ARCHITECTURE.md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3611880" y="576072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685D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แผนที่ว่าไฟล์ไหนทำหน้าที่อะไร ต่อกันยังไง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355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A9A8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หลักการนี้ใช้ได้ไม่ว่าเอเจนต์จะเป็น Claude Code หรือ Codex — วิธีทำงานกับ AI agent ตัวไหนก็ได้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11368735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A8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0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🧭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7373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CF1E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สรุป &amp; ก้าวต่อไป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283464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97F1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2834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01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281635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AC4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มือใหม่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2816352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CF1E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ติดตั้งแอป ลองสั่งงาน 1 อย่างจากลิสต์ตัวอย่าง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370332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97F1E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3703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01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368503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AC4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ระดับกลาง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3685032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CF1E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สร้าง MEMORY.md แรกของทีม เริ่มจากโปรเจกต์เดียว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457200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C97F1E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01B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4553712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AC4C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มืออาชีพ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657600" y="4553712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CF1E8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เลือกงานซ้ำ 1 อย่าง แบ่งบทบาท agent แล้วลองทำเป็น pipeline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62636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A8F"/>
                </a:solidFill>
                <a:latin typeface="Leelawadee UI" pitchFamily="34" charset="0"/>
                <a:ea typeface="Leelawadee UI" pitchFamily="34" charset="-122"/>
                <a:cs typeface="Leelawadee UI" pitchFamily="34" charset="-120"/>
              </a:rPr>
              <a:t>คู่มือเต็ม (TH/EN): wt-phatchara.github.io/codex-desktop-guide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2026-09-06T09:58:40Z</dcterms:created>
  <dcterms:modified xsi:type="dcterms:W3CDTF">2026-09-06T09:58:40Z</dcterms:modified>
</cp:coreProperties>
</file>